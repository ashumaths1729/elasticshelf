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Inter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3"/>
  </p:normalViewPr>
  <p:slideViewPr>
    <p:cSldViewPr snapToGrid="0" snapToObjects="1">
      <p:cViewPr varScale="1">
        <p:scale>
          <a:sx n="103" d="100"/>
          <a:sy n="103" d="100"/>
        </p:scale>
        <p:origin x="200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3900487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24375" y="2338387"/>
            <a:ext cx="3143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0B981"/>
                </a:solidFill>
                <a:latin typeface="Inter"/>
              </a:rPr>
              <a:t>META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8057" y="2757487"/>
            <a:ext cx="7075884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>
                <a:solidFill>
                  <a:srgbClr val="F8FAFC"/>
                </a:solidFill>
                <a:latin typeface="Inter"/>
              </a:rPr>
              <a:t>ElasticShelf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7140" y="4243387"/>
            <a:ext cx="8417718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CBD5E1"/>
                </a:solidFill>
                <a:latin typeface="Inter"/>
              </a:rPr>
              <a:t>Margin recovery via algorithmic pricing for enterprise grocers.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290" y="0"/>
            <a:ext cx="6583709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80358"/>
            <a:ext cx="142875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056608"/>
            <a:ext cx="142875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742408"/>
            <a:ext cx="142875" cy="200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710630"/>
            <a:ext cx="576068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The Margin Drain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518320"/>
            <a:ext cx="448434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75569"/>
                </a:solidFill>
                <a:latin typeface="Inter"/>
              </a:rPr>
              <a:t>Static pricing models destroy perishable inventory margins.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527970"/>
            <a:ext cx="465534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1.05B Tonnes:</a:t>
            </a:r>
            <a:r>
              <a:rPr sz="1500" b="0" i="0" u="none">
                <a:solidFill>
                  <a:srgbClr val="0F172A"/>
                </a:solidFill>
                <a:latin typeface="Inter"/>
              </a:rPr>
              <a:t> Global annual food waste.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4004220"/>
            <a:ext cx="418906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5% Average Shrink:</a:t>
            </a:r>
            <a:r>
              <a:rPr sz="1500" b="0" i="0" u="none">
                <a:solidFill>
                  <a:srgbClr val="0F172A"/>
                </a:solidFill>
                <a:latin typeface="Inter"/>
              </a:rPr>
              <a:t> Retail fresh grocery losses.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4690020"/>
            <a:ext cx="418906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Static Rules:</a:t>
            </a:r>
            <a:r>
              <a:rPr sz="1500" b="0" i="0" u="none">
                <a:solidFill>
                  <a:srgbClr val="0F172A"/>
                </a:solidFill>
                <a:latin typeface="Inter"/>
              </a:rPr>
              <a:t> Arbitrary markdown timing fails.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10050" y="3424237"/>
            <a:ext cx="19050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962900" y="3424237"/>
            <a:ext cx="19050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83123" y="2290762"/>
            <a:ext cx="6025753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0F172A"/>
                </a:solidFill>
                <a:latin typeface="Inter"/>
              </a:rPr>
              <a:t>THE 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" y="3424237"/>
            <a:ext cx="3714750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Inter"/>
              </a:rPr>
              <a:t>$7.3B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4338637"/>
            <a:ext cx="3714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475569"/>
                </a:solidFill>
                <a:latin typeface="Inter"/>
              </a:rPr>
              <a:t>ESL Market by 2033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38625" y="3424237"/>
            <a:ext cx="3714750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Inter"/>
              </a:rPr>
              <a:t>$1.2B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8625" y="4338637"/>
            <a:ext cx="3714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475569"/>
                </a:solidFill>
                <a:latin typeface="Inter"/>
              </a:rPr>
              <a:t>US/EU Fresh Grocery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1475" y="3424237"/>
            <a:ext cx="3714750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0F172A"/>
                </a:solidFill>
                <a:latin typeface="Inter"/>
              </a:rPr>
              <a:t>$150M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1475" y="4338637"/>
            <a:ext cx="3714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475569"/>
                </a:solidFill>
                <a:latin typeface="Inter"/>
              </a:rPr>
              <a:t>Top 50 Regional Chains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12802"/>
            <a:ext cx="2286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384327"/>
            <a:ext cx="28575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155852"/>
            <a:ext cx="2286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0" y="1263997"/>
            <a:ext cx="5860732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Algorithmic Yield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2574577"/>
            <a:ext cx="55816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75569"/>
                </a:solidFill>
                <a:latin typeface="Inter"/>
              </a:rPr>
              <a:t>Transforming static digital tags into dynamic clearance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3584227"/>
            <a:ext cx="3952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Hardware Agnostic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3850927"/>
            <a:ext cx="3952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Connects to any existing ESL network.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4355752"/>
            <a:ext cx="394096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Zero Added Labor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4622452"/>
            <a:ext cx="39409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Fully automated remote price updates.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5127277"/>
            <a:ext cx="365521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Margin 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5393977"/>
            <a:ext cx="36552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Immediate ROI for enterprise CFOs.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843212"/>
            <a:ext cx="3454449" cy="22479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68849" y="2743200"/>
            <a:ext cx="3454449" cy="244792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28099" y="2743200"/>
            <a:ext cx="3454449" cy="244792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150" y="33099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0" y="3209925"/>
            <a:ext cx="5715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5224" y="3209925"/>
            <a:ext cx="40005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609600"/>
            <a:ext cx="12954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Inter"/>
              </a:rPr>
              <a:t>Built on Meta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3" y="3995737"/>
            <a:ext cx="370886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LLaMA 3 70B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700" y="4424362"/>
            <a:ext cx="35322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Ingests local demand signals.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1643" y="3895725"/>
            <a:ext cx="370886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PyTorch 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9949" y="4324350"/>
            <a:ext cx="35322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Calculates real-time price elasticity.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893" y="3895725"/>
            <a:ext cx="370886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FAISS Vector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9199" y="4324350"/>
            <a:ext cx="35322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Retrieves historical clearance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81000" y="2119312"/>
            <a:ext cx="12954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Inter"/>
              </a:rPr>
              <a:t>The Data Flywheel</a:t>
            </a:r>
          </a:p>
        </p:txBody>
      </p:sp>
      <p:sp>
        <p:nvSpPr>
          <p:cNvPr id="3" name="Rectangle 2"/>
          <p:cNvSpPr/>
          <p:nvPr/>
        </p:nvSpPr>
        <p:spPr>
          <a:xfrm>
            <a:off x="1158180" y="3576637"/>
            <a:ext cx="9875639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752600" y="334803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95800" y="334803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239000" y="334803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82200" y="334803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09725" y="334803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" y="4033837"/>
            <a:ext cx="36004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4338637"/>
            <a:ext cx="3124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Tracks exact shelf inventory.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2925" y="334803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4175" y="4033837"/>
            <a:ext cx="36004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Reactive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2300" y="4338637"/>
            <a:ext cx="31242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Drops price before spoilage.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96125" y="334803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7375" y="4033837"/>
            <a:ext cx="36004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Learning 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0" y="4338637"/>
            <a:ext cx="3124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Records discount effectiveness.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39325" y="334803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8FAFC"/>
                </a:solidFill>
                <a:latin typeface="Inte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0575" y="4033837"/>
            <a:ext cx="36004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Proactive Prevention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8700" y="4338637"/>
            <a:ext cx="3124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Recalibrates automated purchasing.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2058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646140"/>
            <a:ext cx="457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30180" y="1457325"/>
            <a:ext cx="5852219" cy="11620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30180" y="2847975"/>
            <a:ext cx="5852219" cy="11620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30180" y="4238625"/>
            <a:ext cx="5852219" cy="11620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30180" y="1457325"/>
            <a:ext cx="38100" cy="1162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30180" y="2847975"/>
            <a:ext cx="38100" cy="1162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30180" y="4238625"/>
            <a:ext cx="38100" cy="1162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2411759"/>
            <a:ext cx="4196461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F8FAFC"/>
                </a:solidFill>
                <a:latin typeface="Inter"/>
              </a:rPr>
              <a:t>Seamless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989040"/>
            <a:ext cx="399663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Inter"/>
              </a:rPr>
              <a:t>Three frictionless deployment pathways. Bypassing legacy constraints.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3080" y="1852612"/>
            <a:ext cx="6667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3080" y="3243262"/>
            <a:ext cx="6667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73080" y="4633912"/>
            <a:ext cx="66675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2680" y="1762125"/>
            <a:ext cx="4550568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Middleware Connect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2680" y="2114550"/>
            <a:ext cx="4333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Bypass legacy POS environments entirely.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2680" y="3152775"/>
            <a:ext cx="397549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POS Marketplace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2680" y="3505200"/>
            <a:ext cx="3786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Standard enterprise API integrations.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2680" y="4543425"/>
            <a:ext cx="385048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Direct ESL 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2680" y="4895850"/>
            <a:ext cx="3667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Updates physical retail tags directly.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3500" y="3214687"/>
            <a:ext cx="19550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88506" y="3214687"/>
            <a:ext cx="29075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196012" y="3214687"/>
            <a:ext cx="2143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339137" y="3214687"/>
            <a:ext cx="25193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33500" y="3881437"/>
            <a:ext cx="19550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88506" y="3881437"/>
            <a:ext cx="29075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6012" y="3881437"/>
            <a:ext cx="2143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339137" y="3881437"/>
            <a:ext cx="25193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333500" y="4548187"/>
            <a:ext cx="19550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88506" y="4548187"/>
            <a:ext cx="29075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6012" y="4548187"/>
            <a:ext cx="2143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39137" y="4548187"/>
            <a:ext cx="25193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333500" y="2562225"/>
            <a:ext cx="9525000" cy="26574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333500" y="2562225"/>
          <a:ext cx="9524999" cy="2657475"/>
        </p:xfrm>
        <a:graphic>
          <a:graphicData uri="http://schemas.openxmlformats.org/drawingml/2006/table">
            <a:tbl>
              <a:tblPr/>
              <a:tblGrid>
                <a:gridCol w="1955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7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9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43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Inter"/>
                        </a:rPr>
                        <a:t>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0B981"/>
                          </a:solidFill>
                          <a:latin typeface="Inter"/>
                        </a:rPr>
                        <a:t>ElasticShelf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Inter"/>
                        </a:rPr>
                        <a:t>Wasteless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Inter"/>
                        </a:rPr>
                        <a:t>Shelf Engine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3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Inter"/>
                        </a:rPr>
                        <a:t>Mechanism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Inter"/>
                        </a:rPr>
                        <a:t>End-to-End Flywheel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Pricing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Forecasting Only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36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Inter"/>
                        </a:rPr>
                        <a:t>Architecture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Inter"/>
                        </a:rPr>
                        <a:t>LLaMA + PyTorch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Proprietary RL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Machine Learning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371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Inter"/>
                        </a:rPr>
                        <a:t>Integration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Inter"/>
                        </a:rPr>
                        <a:t>Headless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High Friction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Inter"/>
                        </a:rPr>
                        <a:t>Medium Friction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-381000" y="609600"/>
            <a:ext cx="12954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Inter"/>
              </a:rPr>
              <a:t>Competitive Moat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13570"/>
            <a:ext cx="5486400" cy="118110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023270"/>
            <a:ext cx="5486400" cy="1181100"/>
          </a:xfrm>
          <a:prstGeom prst="roundRect">
            <a:avLst>
              <a:gd name="adj" fmla="val 645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653480"/>
            <a:ext cx="72009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0F172A"/>
                </a:solidFill>
                <a:latin typeface="Inter"/>
              </a:rPr>
              <a:t>Revenue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2927895"/>
            <a:ext cx="637579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SaaS + API 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280320"/>
            <a:ext cx="6072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Base monthly fee per retail location.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337595"/>
            <a:ext cx="637579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Shared-Value Upsell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690020"/>
            <a:ext cx="6072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10% performance cut of recovered margins.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262</Words>
  <Application>Microsoft Macintosh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Agrahari, Ashutosh</cp:lastModifiedBy>
  <cp:revision>2</cp:revision>
  <dcterms:created xsi:type="dcterms:W3CDTF">2013-01-27T09:14:16Z</dcterms:created>
  <dcterms:modified xsi:type="dcterms:W3CDTF">2026-10-27T21:19:51Z</dcterms:modified>
  <cp:category/>
</cp:coreProperties>
</file>